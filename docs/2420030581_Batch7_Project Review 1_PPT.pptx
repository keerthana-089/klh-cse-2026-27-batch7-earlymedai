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sldIdLst>
    <p:sldId id="256" r:id="rId2"/>
    <p:sldId id="257" r:id="rId3"/>
    <p:sldId id="264" r:id="rId4"/>
    <p:sldId id="273" r:id="rId5"/>
    <p:sldId id="258" r:id="rId6"/>
    <p:sldId id="275" r:id="rId7"/>
    <p:sldId id="261" r:id="rId8"/>
    <p:sldId id="265" r:id="rId9"/>
    <p:sldId id="260" r:id="rId10"/>
    <p:sldId id="272" r:id="rId11"/>
    <p:sldId id="274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4BD777-37A9-43A8-B010-53FE3852698E}">
          <p14:sldIdLst>
            <p14:sldId id="256"/>
            <p14:sldId id="257"/>
            <p14:sldId id="264"/>
          </p14:sldIdLst>
        </p14:section>
        <p14:section name="Untitled Section" id="{7307711C-9608-4191-9EEF-59EA12CA526A}">
          <p14:sldIdLst>
            <p14:sldId id="273"/>
            <p14:sldId id="258"/>
            <p14:sldId id="275"/>
            <p14:sldId id="261"/>
            <p14:sldId id="265"/>
            <p14:sldId id="260"/>
            <p14:sldId id="272"/>
            <p14:sldId id="274"/>
            <p14:sldId id="266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2833" y="189781"/>
            <a:ext cx="9144000" cy="2889849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VISUALIZATION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24DSB3101)</a:t>
            </a:r>
            <a:b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Healthcare Data Analytics for Early Disease Risk Predication </a:t>
            </a:r>
            <a:endParaRPr lang="en-US" sz="3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2567" y="3160701"/>
            <a:ext cx="7324531" cy="242921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E. Supraja        -   2420030357</a:t>
            </a:r>
            <a:endParaRPr lang="en-US" dirty="0">
              <a:solidFill>
                <a:srgbClr val="0070C0"/>
              </a:solidFill>
            </a:endParaRPr>
          </a:p>
          <a:p>
            <a:pPr algn="l"/>
            <a:r>
              <a:rPr lang="en-US" dirty="0">
                <a:solidFill>
                  <a:srgbClr val="0070C0"/>
                </a:solidFill>
              </a:rPr>
              <a:t>                          </a:t>
            </a:r>
            <a:r>
              <a:rPr lang="en-IN" dirty="0"/>
              <a:t>M. Varshitha   -   2420030479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IN" dirty="0"/>
              <a:t> C. Keerthana   -   2420030581 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IN" dirty="0"/>
              <a:t> CH. Bhargavi    -   2420030588</a:t>
            </a:r>
            <a:br>
              <a:rPr lang="en-US" dirty="0">
                <a:solidFill>
                  <a:srgbClr val="0070C0"/>
                </a:solidFill>
              </a:rPr>
            </a:b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IN" dirty="0"/>
              <a:t>Dr . KATANGURI SWAPNIKA (CSE)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623966" y="1008025"/>
            <a:ext cx="513057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  <a:p>
            <a:pPr marL="457200" indent="-45720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Architecture/Methodology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AE01A-437B-322C-EEEE-3044E32C60B2}"/>
              </a:ext>
            </a:extLst>
          </p:cNvPr>
          <p:cNvSpPr txBox="1"/>
          <p:nvPr/>
        </p:nvSpPr>
        <p:spPr>
          <a:xfrm>
            <a:off x="1388464" y="1448955"/>
            <a:ext cx="941506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lnSpc>
                <a:spcPct val="150000"/>
              </a:lnSpc>
            </a:pPr>
            <a:r>
              <a:rPr lang="en-IN" sz="2400" dirty="0"/>
              <a:t>Healthcare data can help predict chronic disease risks, but traditional ML models are often difficult to interpret. This project uses disease-specific ML models with Explainable AI (XAI) to provide transparent predictions. The framework supports early risk assessment and data-driven clinical decision-making. It also improves trust and understanding of AI-based healthcare predictions.</a:t>
            </a:r>
          </a:p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D7F1-012C-ECD9-7F3F-B57EDD0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F49506-52A9-FA4D-7498-F34794D7DA6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435D37-165E-C1D5-FA0B-29B928F2B5EF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4733-29BE-42B5-CFA7-B4C0BF2DC24F}"/>
              </a:ext>
            </a:extLst>
          </p:cNvPr>
          <p:cNvSpPr txBox="1"/>
          <p:nvPr/>
        </p:nvSpPr>
        <p:spPr>
          <a:xfrm>
            <a:off x="594626" y="970350"/>
            <a:ext cx="10835374" cy="630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analyse and preprocess healthcare datasets using Pandas, NumPy, Matplotlib, Seaborn, and automated profiling techniques to identify data-quality issues, distributions, correlations, and significant risk factors.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and evaluate disease-risk prediction models using Logistic Regression, Decision Tree, Random Forest, and </a:t>
            </a:r>
            <a:r>
              <a:rPr lang="en-IN" sz="2000" dirty="0" err="1"/>
              <a:t>XGBoost</a:t>
            </a:r>
            <a:r>
              <a:rPr lang="en-IN" sz="2000" dirty="0"/>
              <a:t> based on Accuracy, Precision, Recall, F1-Score, and ROC-AUC metrics.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enhance the interpretability of disease-risk predictions using SHAP-based global and local explanations to identify the key factors influencing individual predictions.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develop an interactive </a:t>
            </a:r>
            <a:r>
              <a:rPr lang="en-IN" sz="2000" dirty="0" err="1"/>
              <a:t>Streamlit</a:t>
            </a:r>
            <a:r>
              <a:rPr lang="en-IN" sz="2000" dirty="0"/>
              <a:t>-based healthcare analytics dashboard that presents disease-risk probabilities, key risk factors, model performance, and explainable prediction results for effective decision support.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To evaluate and compare the developed models to identify the most accurate and reliable model for early disease-risk prediction.</a:t>
            </a:r>
          </a:p>
          <a:p>
            <a:endParaRPr lang="en-IN" sz="2000" dirty="0"/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48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29083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6330D-C06C-3756-C02B-9C3BEB3DA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3" y="1062223"/>
            <a:ext cx="11697419" cy="55741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D65BC2-62DF-81BA-450A-3312CDE2B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4" y="992037"/>
            <a:ext cx="11671540" cy="567644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EBE5F2-DC28-DCE0-5A9D-19572849F6F9}"/>
              </a:ext>
            </a:extLst>
          </p:cNvPr>
          <p:cNvSpPr/>
          <p:nvPr/>
        </p:nvSpPr>
        <p:spPr>
          <a:xfrm>
            <a:off x="3822373" y="189514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A474C0-33EF-04F0-8097-58C5CE80C64D}"/>
              </a:ext>
            </a:extLst>
          </p:cNvPr>
          <p:cNvSpPr txBox="1"/>
          <p:nvPr/>
        </p:nvSpPr>
        <p:spPr>
          <a:xfrm>
            <a:off x="2746335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 (cont.)</a:t>
            </a:r>
          </a:p>
        </p:txBody>
      </p:sp>
    </p:spTree>
    <p:extLst>
      <p:ext uri="{BB962C8B-B14F-4D97-AF65-F5344CB8AC3E}">
        <p14:creationId xmlns:p14="http://schemas.microsoft.com/office/powerpoint/2010/main" val="3470345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RESEARCH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ACDFB-3AFB-9376-14FA-C053AE4FCA09}"/>
              </a:ext>
            </a:extLst>
          </p:cNvPr>
          <p:cNvSpPr txBox="1"/>
          <p:nvPr/>
        </p:nvSpPr>
        <p:spPr>
          <a:xfrm>
            <a:off x="655609" y="1042231"/>
            <a:ext cx="10974918" cy="572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1. Limited Dataset Diversity</a:t>
            </a:r>
            <a:br>
              <a:rPr lang="en-IN" sz="1600" dirty="0"/>
            </a:br>
            <a:r>
              <a:rPr lang="en-IN" sz="1600" dirty="0"/>
              <a:t>Many existing studies rely on limited or single-disease datasets and single data types, reducing the generalizability and practical applicability of healthcare prediction models.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2. Disease-Specific Approaches</a:t>
            </a:r>
            <a:br>
              <a:rPr lang="en-IN" sz="1600" dirty="0"/>
            </a:br>
            <a:r>
              <a:rPr lang="en-IN" sz="1600" dirty="0"/>
              <a:t>Existing research often focuses on individual diseases or specific datasets, with limited development of a reusable framework that can support multiple disease-risk prediction tasks.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Prediction vs. Interpretability</a:t>
            </a:r>
            <a:br>
              <a:rPr lang="en-IN" sz="1600" dirty="0"/>
            </a:br>
            <a:r>
              <a:rPr lang="en-IN" sz="1600" dirty="0"/>
              <a:t>Several studies emphasize predictive performance, while model interpretability, transparency, and user understanding receive comparatively less attention.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4. Lack of an Integrated XAI Workflow</a:t>
            </a:r>
            <a:br>
              <a:rPr lang="en-IN" sz="1600" dirty="0"/>
            </a:br>
            <a:r>
              <a:rPr lang="en-IN" sz="1600" dirty="0"/>
              <a:t>Although SHAP and LIME are widely used, they are often applied independently. There is a need for an integrated workflow combining prediction, global explanations, local explanations, and visualization.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5. Limited Practical Presentation and Decision Support</a:t>
            </a:r>
            <a:br>
              <a:rPr lang="en-IN" sz="1600" dirty="0"/>
            </a:br>
            <a:r>
              <a:rPr lang="en-IN" sz="1600" dirty="0"/>
              <a:t>Existing studies provide limited accessible interfaces for users to understand risk probabilities, contributing factors, and model explanations, creating a gap between model development and practical healthcare decision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INNOVATION &amp; CREATIVITY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099EF-7F58-256E-E573-5CC522AC2D74}"/>
              </a:ext>
            </a:extLst>
          </p:cNvPr>
          <p:cNvSpPr txBox="1"/>
          <p:nvPr/>
        </p:nvSpPr>
        <p:spPr>
          <a:xfrm>
            <a:off x="1094118" y="1301417"/>
            <a:ext cx="10003762" cy="4813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Creativity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End-to-End Healthcare Analytics</a:t>
            </a:r>
            <a:r>
              <a:rPr lang="en-IN" sz="2000" dirty="0"/>
              <a:t> – Integrates data preprocessing, analysis, prediction, and visualization.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Multi-Model Prediction</a:t>
            </a:r>
            <a:r>
              <a:rPr lang="en-IN" sz="2000" dirty="0"/>
              <a:t> – Compares multiple ML models with </a:t>
            </a:r>
            <a:r>
              <a:rPr lang="en-IN" sz="2000" dirty="0" err="1"/>
              <a:t>XGBoost</a:t>
            </a:r>
            <a:r>
              <a:rPr lang="en-IN" sz="2000" dirty="0"/>
              <a:t> for disease-risk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Explainable AI</a:t>
            </a:r>
            <a:r>
              <a:rPr lang="en-IN" sz="2000" dirty="0"/>
              <a:t> – Uses SHAP to identify the factors influencing each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Interactive Dashboard</a:t>
            </a:r>
            <a:r>
              <a:rPr lang="en-IN" sz="2000" dirty="0"/>
              <a:t> – Uses </a:t>
            </a:r>
            <a:r>
              <a:rPr lang="en-IN" sz="2000" dirty="0" err="1"/>
              <a:t>Streamlit</a:t>
            </a:r>
            <a:r>
              <a:rPr lang="en-IN" sz="2000" dirty="0"/>
              <a:t> to provide an easy-to-use healthcare prediction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Visual Risk Insights</a:t>
            </a:r>
            <a:r>
              <a:rPr lang="en-IN" sz="2000" dirty="0"/>
              <a:t> – Presents risk probability, important features, and analytical charts clearly.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NOVALITY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21665-087B-7131-74F3-EF7B93A9E4F0}"/>
              </a:ext>
            </a:extLst>
          </p:cNvPr>
          <p:cNvSpPr txBox="1"/>
          <p:nvPr/>
        </p:nvSpPr>
        <p:spPr>
          <a:xfrm>
            <a:off x="1121434" y="1216325"/>
            <a:ext cx="98168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Multi-Disease Prediction Framework</a:t>
            </a:r>
            <a:r>
              <a:rPr lang="en-IN" dirty="0"/>
              <a:t> – Supports disease-risk prediction across multiple healthcare datasets using different ML models.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Integrated Explainable AI (XAI)</a:t>
            </a:r>
            <a:r>
              <a:rPr lang="en-IN" dirty="0"/>
              <a:t> – Uses SHAP to provide both global and patient-level explanations for model predictions.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Interactive Healthcare Dashboard</a:t>
            </a:r>
            <a:r>
              <a:rPr lang="en-IN" dirty="0"/>
              <a:t> – Provides risk probabilities, important risk factors, model performance, and explanations through a </a:t>
            </a:r>
            <a:r>
              <a:rPr lang="en-IN" dirty="0" err="1"/>
              <a:t>Streamlit</a:t>
            </a:r>
            <a:r>
              <a:rPr lang="en-IN" dirty="0"/>
              <a:t> dashboard.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Streamlit</a:t>
            </a:r>
            <a:r>
              <a:rPr lang="en-IN" b="1" dirty="0"/>
              <a:t> Decision-Support Dashboard</a:t>
            </a:r>
            <a:r>
              <a:rPr lang="en-IN" dirty="0"/>
              <a:t> – Provides an interactive interface combining prediction, explanation, and visualization for practical healthcare decision support.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Comparative ML Model Evaluation</a:t>
            </a:r>
            <a:r>
              <a:rPr lang="en-IN" dirty="0"/>
              <a:t> – Compares multiple models, including Logistic Regression, Decision Tree, Random Forest, and </a:t>
            </a:r>
            <a:r>
              <a:rPr lang="en-IN" dirty="0" err="1"/>
              <a:t>XGBoost</a:t>
            </a:r>
            <a:r>
              <a:rPr lang="en-IN" dirty="0"/>
              <a:t>, using standard evaluation metrics.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End-to-End Decision-Support Workflow</a:t>
            </a:r>
            <a:r>
              <a:rPr lang="en-IN" dirty="0"/>
              <a:t> – Integrates data preprocessing → prediction → explanation → visualization → clinical decision support in a single framework.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F743-01B3-3879-0894-974C7337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1A521F-E63E-5FCC-99E4-7E3CD02E6FC0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7B9E-5097-BABA-3410-DB3EBA8C5529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D4171-24E3-AAC9-EBFF-535BA2141C3B}"/>
              </a:ext>
            </a:extLst>
          </p:cNvPr>
          <p:cNvSpPr txBox="1"/>
          <p:nvPr/>
        </p:nvSpPr>
        <p:spPr>
          <a:xfrm>
            <a:off x="300524" y="1173079"/>
            <a:ext cx="5795476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Technical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project can be implemented using publicly available healthcare datasets and Python-based open-source libraries such as Pandas, Scikit-learn, </a:t>
            </a:r>
            <a:r>
              <a:rPr lang="en-IN" dirty="0" err="1"/>
              <a:t>XGBoost</a:t>
            </a:r>
            <a:r>
              <a:rPr lang="en-IN" dirty="0"/>
              <a:t>, SHAP and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Data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Public benchmark datasets are available for heart disease, diabetes and stroke prediction, making initial experimentation possible without requiring private hospital records.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Implementation Feasibility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The system can initially be developed using Jupyter Notebook/VS Code and subsequently integrated into a </a:t>
            </a:r>
            <a:r>
              <a:rPr lang="en-IN" dirty="0" err="1"/>
              <a:t>Streamlit</a:t>
            </a:r>
            <a:r>
              <a:rPr lang="en-IN" dirty="0"/>
              <a:t> dashboard.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9FAB7-7C4B-8576-6C4F-4CE96AC726D7}"/>
              </a:ext>
            </a:extLst>
          </p:cNvPr>
          <p:cNvSpPr txBox="1"/>
          <p:nvPr/>
        </p:nvSpPr>
        <p:spPr>
          <a:xfrm>
            <a:off x="6513093" y="1173079"/>
            <a:ext cx="49409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→ Literature Survey &amp; Dataset Collection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→ Data Cleaning &amp; EDA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→ Feature Engineering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→ ML Model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5 → Model Evaluation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6 → SHAP Explainability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7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8 → Testing, Documentation &amp; Final Report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41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06BC-0D02-72B5-7962-7CD7174D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1F66FC-34C6-F1E3-D83C-E29590F5934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E27E7-CF87-770C-3DCB-07F30CC6929E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611AC-24F1-F80B-BF63-D420CF31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" t="17862" r="1988" b="3232"/>
          <a:stretch>
            <a:fillRect/>
          </a:stretch>
        </p:blipFill>
        <p:spPr>
          <a:xfrm>
            <a:off x="307675" y="1009289"/>
            <a:ext cx="11576650" cy="555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2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09145" y="317791"/>
            <a:ext cx="67103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</a:rPr>
              <a:t>PROPOSED ARCHITECTURE/METHODOLOGY</a:t>
            </a:r>
          </a:p>
        </p:txBody>
      </p:sp>
      <p:pic>
        <p:nvPicPr>
          <p:cNvPr id="4" name="Picture 3" descr="Generated image">
            <a:extLst>
              <a:ext uri="{FF2B5EF4-FFF2-40B4-BE49-F238E27FC236}">
                <a16:creationId xmlns:a16="http://schemas.microsoft.com/office/drawing/2014/main" id="{8CE6AC75-C435-FE8D-C26F-E43FCD3E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9" t="6386"/>
          <a:stretch>
            <a:fillRect/>
          </a:stretch>
        </p:blipFill>
        <p:spPr>
          <a:xfrm>
            <a:off x="474451" y="865987"/>
            <a:ext cx="6512945" cy="5828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CC9EB-F3B7-FBFF-1602-137648FFF8E9}"/>
              </a:ext>
            </a:extLst>
          </p:cNvPr>
          <p:cNvSpPr txBox="1"/>
          <p:nvPr/>
        </p:nvSpPr>
        <p:spPr>
          <a:xfrm>
            <a:off x="8134710" y="1785669"/>
            <a:ext cx="34764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Workflow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Collection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Data 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EDA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Feature Selection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Train–Test Split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ML Model 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Model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XAI – SHAP/LIME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Dashboard &amp; Visualization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Risk Prediction &amp;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Research Conclusion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854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    DATA ANALYTICS AND VISUALIZATION (24DSB3101)  Machine Learning-Based Healthcare Data Analytics for Early Disease Risk Predication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Varshitha Mandha</cp:lastModifiedBy>
  <cp:revision>31</cp:revision>
  <dcterms:created xsi:type="dcterms:W3CDTF">2024-08-29T05:25:00Z</dcterms:created>
  <dcterms:modified xsi:type="dcterms:W3CDTF">2026-08-19T04:06:07Z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